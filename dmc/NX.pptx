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74" r:id="rId3"/>
    <p:sldId id="306" r:id="rId4"/>
    <p:sldId id="308" r:id="rId5"/>
    <p:sldId id="313" r:id="rId6"/>
    <p:sldId id="307" r:id="rId7"/>
    <p:sldId id="311" r:id="rId8"/>
    <p:sldId id="314" r:id="rId9"/>
    <p:sldId id="309" r:id="rId10"/>
    <p:sldId id="310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64028"/>
    <a:srgbClr val="4A5737"/>
    <a:srgbClr val="5353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6" autoAdjust="0"/>
    <p:restoredTop sz="81526" autoAdjust="0"/>
  </p:normalViewPr>
  <p:slideViewPr>
    <p:cSldViewPr snapToGrid="0">
      <p:cViewPr varScale="1">
        <p:scale>
          <a:sx n="82" d="100"/>
          <a:sy n="82" d="100"/>
        </p:scale>
        <p:origin x="62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71A428-82F6-4EB1-B62E-2C59FA7FB63A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111E0-6461-4ACD-ADBA-8969ABF015B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4153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ru-RU" b="0" i="0" dirty="0">
                <a:solidFill>
                  <a:srgbClr val="181818"/>
                </a:solidFill>
                <a:effectLst/>
                <a:latin typeface="HeliosExtC"/>
              </a:rPr>
              <a:t>HashMap — структура из пар «ключ-значение». Внутри это динамический массив ключей. Каждый элемент массива — своеобразная «корзинка», которая хранит связанный список со значением.</a:t>
            </a:r>
          </a:p>
          <a:p>
            <a:pPr algn="l"/>
            <a:r>
              <a:rPr lang="ru-RU" b="0" i="0" dirty="0">
                <a:solidFill>
                  <a:srgbClr val="181818"/>
                </a:solidFill>
                <a:effectLst/>
                <a:latin typeface="HeliosExtC"/>
              </a:rPr>
              <a:t>Под капотом </a:t>
            </a:r>
            <a:r>
              <a:rPr lang="ru-RU" sz="1200" b="0" i="0" dirty="0">
                <a:solidFill>
                  <a:srgbClr val="181818"/>
                </a:solidFill>
                <a:effectLst/>
                <a:latin typeface="HeliosExtC"/>
              </a:rPr>
              <a:t>у ключей есть хэши, то есть уникальные идентификаторы, позволяющие эффективно работать с этой структурой.</a:t>
            </a:r>
            <a:endParaRPr lang="ru-RU" b="0" i="0" dirty="0">
              <a:solidFill>
                <a:srgbClr val="181818"/>
              </a:solidFill>
              <a:effectLst/>
              <a:latin typeface="HeliosExtC"/>
            </a:endParaRPr>
          </a:p>
          <a:p>
            <a:pPr algn="l"/>
            <a:r>
              <a:rPr lang="ru-RU" sz="1200" b="0" i="0" dirty="0">
                <a:solidFill>
                  <a:srgbClr val="181818"/>
                </a:solidFill>
                <a:effectLst/>
                <a:latin typeface="HeliosExtC"/>
              </a:rPr>
              <a:t>В </a:t>
            </a:r>
            <a:r>
              <a:rPr lang="en-US" sz="1200" b="0" i="0" dirty="0">
                <a:solidFill>
                  <a:srgbClr val="181818"/>
                </a:solidFill>
                <a:effectLst/>
                <a:latin typeface="HeliosExtC"/>
              </a:rPr>
              <a:t>JS </a:t>
            </a:r>
            <a:r>
              <a:rPr lang="ru-RU" sz="1200" b="0" i="0" dirty="0">
                <a:solidFill>
                  <a:srgbClr val="181818"/>
                </a:solidFill>
                <a:effectLst/>
                <a:latin typeface="HeliosExtC"/>
              </a:rPr>
              <a:t>на них основаны объекты, </a:t>
            </a:r>
            <a:r>
              <a:rPr lang="en-US" sz="1200" b="0" i="0" dirty="0">
                <a:solidFill>
                  <a:srgbClr val="181818"/>
                </a:solidFill>
                <a:effectLst/>
                <a:latin typeface="HeliosExtC"/>
              </a:rPr>
              <a:t>Map, Set</a:t>
            </a:r>
            <a:endParaRPr lang="en-US" b="0" i="0" dirty="0">
              <a:solidFill>
                <a:srgbClr val="181818"/>
              </a:solidFill>
              <a:effectLst/>
              <a:latin typeface="HeliosExtC"/>
            </a:endParaRPr>
          </a:p>
          <a:p>
            <a:pPr algn="l"/>
            <a:r>
              <a:rPr lang="ru-RU" dirty="0">
                <a:effectLst/>
              </a:rPr>
              <a:t>Это превосходно оптимизированная структура, позволяющая быстро получать значение ключа по самому ключу и проверять есть ли ключ во всем объекте</a:t>
            </a:r>
          </a:p>
          <a:p>
            <a:pPr algn="l"/>
            <a:r>
              <a:rPr lang="ru-RU" dirty="0">
                <a:effectLst/>
              </a:rPr>
              <a:t>Хорошее объяснение того как работает эта структура данных под капотом можно посмотреть в видео по ссылке в правой нижней части, лучше я точно рассказать не смогу и для этого нужна отдельная презентация</a:t>
            </a:r>
          </a:p>
          <a:p>
            <a:pPr algn="l"/>
            <a:br>
              <a:rPr lang="ru-RU" dirty="0">
                <a:effectLst/>
              </a:rPr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11E0-6461-4ACD-ADBA-8969ABF015B8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226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11E0-6461-4ACD-ADBA-8969ABF015B8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1836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GB" dirty="0"/>
              <a:t>Feature</a:t>
            </a:r>
            <a:r>
              <a:rPr lang="ru-RU" dirty="0"/>
              <a:t> могут завесить от всех других библиотек кроме приложений</a:t>
            </a:r>
          </a:p>
          <a:p>
            <a:pPr algn="l"/>
            <a:r>
              <a:rPr lang="en-US" dirty="0"/>
              <a:t>UI </a:t>
            </a:r>
            <a:r>
              <a:rPr lang="ru-RU" dirty="0"/>
              <a:t>и </a:t>
            </a:r>
            <a:r>
              <a:rPr lang="en-GB" dirty="0"/>
              <a:t>Data-access</a:t>
            </a:r>
            <a:r>
              <a:rPr lang="en-US" dirty="0"/>
              <a:t> – </a:t>
            </a:r>
            <a:r>
              <a:rPr lang="ru-RU" dirty="0"/>
              <a:t>от </a:t>
            </a:r>
            <a:r>
              <a:rPr lang="en-GB" dirty="0"/>
              <a:t>Utility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11E0-6461-4ACD-ADBA-8969ABF015B8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2373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11E0-6461-4ACD-ADBA-8969ABF015B8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850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11E0-6461-4ACD-ADBA-8969ABF015B8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3630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11E0-6461-4ACD-ADBA-8969ABF015B8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231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11E0-6461-4ACD-ADBA-8969ABF015B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88956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11E0-6461-4ACD-ADBA-8969ABF015B8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67236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C111E0-6461-4ACD-ADBA-8969ABF015B8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051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F407-E54A-4736-A4BC-666E2C6569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51DFE5-D393-417E-ABDA-838F522D6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B866B-A571-4395-AEBA-13445331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EA6A-1DE4-48F8-ACB0-E86FCD3E5DA7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1F789-46E4-4A49-8B03-EA1C75470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EF817-B402-4624-98ED-CC661D141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F591-3D1D-41B0-A8AB-919F677AC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946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6FF3A-B5FC-4674-91A4-B41D3F1E4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7FA0D-D3C8-4BAB-8927-6E9D6B066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F1475-477D-4A63-A863-C7C120CFF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EA6A-1DE4-48F8-ACB0-E86FCD3E5DA7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D1C60E-27F7-4CBF-B1D9-C6851C37F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E75AE-1DC1-424A-97ED-62823224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F591-3D1D-41B0-A8AB-919F677AC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232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A7322-CEF5-4A0A-8863-5A4774727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E9BBB-6D0C-4A75-A60D-297FF27894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59150-0617-407D-9F91-CE81CC940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EA6A-1DE4-48F8-ACB0-E86FCD3E5DA7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765C57-1FD3-41E2-A01F-F35B34CF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8BA86-9E08-4B5A-8C04-9B908200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F591-3D1D-41B0-A8AB-919F677AC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326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267C-5B96-4E6B-92EE-ADA6C1157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B871C-7039-452D-A1EE-0766451125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0B5F7-3365-4D9E-885A-811F2318D8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7D27FB-3CDB-4E34-8966-8C193AA45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EA6A-1DE4-48F8-ACB0-E86FCD3E5DA7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25885-E965-41C6-AD78-728607846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6782F-A769-45BA-9D2E-1D1AAF2F3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F591-3D1D-41B0-A8AB-919F677AC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302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758D7-E678-4D7D-8F57-CF3613FF4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DFDD5-D59C-418F-8CB7-D3DDACB9B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820C7-B50E-410F-9B4E-F61B48775D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AC388F-EEB9-470E-87C3-81ACFCE8D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A45E3-9858-4264-9EF6-77FC1333DD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D20183-7B87-49D5-9257-58587FBD5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EA6A-1DE4-48F8-ACB0-E86FCD3E5DA7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9FD679-D7FE-484D-BD98-47B0854C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F1EAA9-1072-49D0-AAAA-1DB6B2C0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F591-3D1D-41B0-A8AB-919F677AC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504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26B95-F3F2-41D2-9E00-CECB01677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D10635-807B-406D-A628-40B2A4FF9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EA6A-1DE4-48F8-ACB0-E86FCD3E5DA7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5B2AC8-9EC8-4CFD-9B78-DFB967EFC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229E9-962F-463E-B097-4D69EECC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F591-3D1D-41B0-A8AB-919F677AC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028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CAA732-2943-411D-A34C-A8F8338A6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EA6A-1DE4-48F8-ACB0-E86FCD3E5DA7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3FBFD2-AC2F-43AC-84B5-F29612E81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E4D54-B4C9-41D7-8731-78467072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F591-3D1D-41B0-A8AB-919F677AC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184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8D57E-1661-4EC0-9626-799AF0FDC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C7862-D8BA-44F8-BE90-4FE786616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D95044-DC97-4B74-AA29-B8DC56471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226548-4E5D-4662-9F12-DE9E41C6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EA6A-1DE4-48F8-ACB0-E86FCD3E5DA7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AF5A8D-E549-401A-8EE9-2DFCB060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6DBFF-D242-4E7D-A84E-23F4CE61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F591-3D1D-41B0-A8AB-919F677AC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369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C9C68-19D1-4321-829D-D9DE82328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149E09-86C4-401D-A292-3C0FB1723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9874F-AB0E-4B42-8B2D-6887E415D6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F8D737-00FF-472C-80DF-572771687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EA6A-1DE4-48F8-ACB0-E86FCD3E5DA7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CE52A-EB9A-400D-9A90-F85B41065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89C7ED-1237-4B10-8FAB-B507B2F95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F591-3D1D-41B0-A8AB-919F677AC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7754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A5863-247B-418B-9159-EF5FF11F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B3CFD-3558-4D57-8CE6-1B37EAEEC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E4AD4-75F4-4CCC-A075-A75D52CEE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EA6A-1DE4-48F8-ACB0-E86FCD3E5DA7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641CF2-60FE-41A6-8CFA-D9B4A9E34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5235B5-6700-4A7A-B347-205B5E57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F591-3D1D-41B0-A8AB-919F677AC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0324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83CFC7-931E-429D-9458-F3811AD959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EADDF-F11B-4C3B-8F95-B4F35A657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0F937-47B6-4C6C-B266-10E2A4040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DEA6A-1DE4-48F8-ACB0-E86FCD3E5DA7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DB728-18F0-4E65-B9F5-5B0CFCA7A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513B9-C6FA-446E-B746-E127F89E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35F591-3D1D-41B0-A8AB-919F677AC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321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D74C1D-DAD2-463E-BDD8-E67A70B8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06EF8A-4807-45FA-A8B2-0704FC0D8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BD5CB-A4D0-4163-A447-E7AB548DC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3DEA6A-1DE4-48F8-ACB0-E86FCD3E5DA7}" type="datetimeFigureOut">
              <a:rPr lang="en-GB" smtClean="0"/>
              <a:t>15/09/2024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60EFEC-6632-4630-860A-ED8CB65B7B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386CE-6F90-431A-9133-924163036C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5F591-3D1D-41B0-A8AB-919F677ACB9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644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MbtWty7DosE" TargetMode="External"/><Relationship Id="rId2" Type="http://schemas.openxmlformats.org/officeDocument/2006/relationships/hyperlink" Target="https://nx.dev/getting-started/intro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edium.com/ekino-france/monorepo-insights-nx-pnpm-and-turborepo-2-4-e6d5837570ad" TargetMode="External"/><Relationship Id="rId4" Type="http://schemas.openxmlformats.org/officeDocument/2006/relationships/hyperlink" Target="https://www.youtube.com/watch?v=1eHlaVoeDf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1DF7F968-08FC-56DE-0EBC-D5C288C8FF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682" y="329711"/>
            <a:ext cx="4513634" cy="4513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2B3A5D-FB2D-4219-8222-ED2179BAB4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09138"/>
            <a:ext cx="12192000" cy="2387600"/>
          </a:xfrm>
        </p:spPr>
        <p:txBody>
          <a:bodyPr/>
          <a:lstStyle/>
          <a:p>
            <a:r>
              <a:rPr lang="ru-RU" dirty="0"/>
              <a:t>Что делать если у Вас </a:t>
            </a:r>
            <a:r>
              <a:rPr lang="en-US" dirty="0"/>
              <a:t>NX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7608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CD40-9DBA-407F-A596-6F6EE662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5200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err="1"/>
              <a:t>Монорепозиторий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A4D7CE-FCD8-422E-86E8-F02F9C4FDC01}"/>
              </a:ext>
            </a:extLst>
          </p:cNvPr>
          <p:cNvSpPr txBox="1"/>
          <p:nvPr/>
        </p:nvSpPr>
        <p:spPr>
          <a:xfrm>
            <a:off x="441875" y="652007"/>
            <a:ext cx="11308249" cy="44480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Tx/>
              <a:buChar char="-"/>
              <a:defRPr sz="3200"/>
            </a:lvl1pPr>
          </a:lstStyle>
          <a:p>
            <a:r>
              <a:rPr lang="ru-RU" dirty="0"/>
              <a:t>Единые типы для </a:t>
            </a:r>
            <a:r>
              <a:rPr lang="ru-RU" dirty="0" err="1"/>
              <a:t>фронтенда</a:t>
            </a:r>
            <a:r>
              <a:rPr lang="ru-RU" dirty="0"/>
              <a:t> и бэкенда</a:t>
            </a:r>
          </a:p>
          <a:p>
            <a:r>
              <a:rPr lang="ru-RU" dirty="0"/>
              <a:t>Одинаковые </a:t>
            </a:r>
            <a:r>
              <a:rPr lang="en-US" dirty="0"/>
              <a:t>UI </a:t>
            </a:r>
            <a:r>
              <a:rPr lang="ru-RU" dirty="0"/>
              <a:t>компоненты для нескольких приложений</a:t>
            </a:r>
          </a:p>
          <a:p>
            <a:r>
              <a:rPr lang="ru-RU" dirty="0"/>
              <a:t>Разделение большой команды на несколько маленьких</a:t>
            </a:r>
          </a:p>
          <a:p>
            <a:r>
              <a:rPr lang="ru-RU" dirty="0"/>
              <a:t>Отслеживание влияния изменений на другие приложения</a:t>
            </a:r>
          </a:p>
          <a:p>
            <a:r>
              <a:rPr lang="ru-RU" dirty="0"/>
              <a:t>Одинаковые</a:t>
            </a:r>
            <a:r>
              <a:rPr lang="en-US" dirty="0"/>
              <a:t> Data-access </a:t>
            </a:r>
            <a:r>
              <a:rPr lang="ru-RU" dirty="0"/>
              <a:t>и другая логика для нескольких приложений</a:t>
            </a:r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876E9B8B-E8ED-8B88-79F1-5C757F2358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79" t="18892" r="7509" b="20947"/>
          <a:stretch/>
        </p:blipFill>
        <p:spPr bwMode="auto">
          <a:xfrm>
            <a:off x="2558374" y="4313669"/>
            <a:ext cx="7161177" cy="2738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673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82EE447-0C66-2A0D-DBF9-B1C03F55C1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81" y="2667588"/>
            <a:ext cx="4809439" cy="387398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34CD40-9DBA-407F-A596-6F6EE662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52006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NX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A4D7CE-FCD8-422E-86E8-F02F9C4FDC01}"/>
              </a:ext>
            </a:extLst>
          </p:cNvPr>
          <p:cNvSpPr txBox="1"/>
          <p:nvPr/>
        </p:nvSpPr>
        <p:spPr>
          <a:xfrm>
            <a:off x="441875" y="652007"/>
            <a:ext cx="11308249" cy="444801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Tx/>
              <a:buChar char="-"/>
              <a:defRPr sz="3200"/>
            </a:lvl1pPr>
          </a:lstStyle>
          <a:p>
            <a:r>
              <a:rPr lang="en-US" dirty="0"/>
              <a:t>NX – </a:t>
            </a:r>
            <a:r>
              <a:rPr lang="ru-RU" dirty="0" err="1"/>
              <a:t>туллинг</a:t>
            </a:r>
            <a:r>
              <a:rPr lang="ru-RU" dirty="0"/>
              <a:t> для удобной организации </a:t>
            </a:r>
            <a:r>
              <a:rPr lang="ru-RU" dirty="0" err="1"/>
              <a:t>монорепозитория</a:t>
            </a:r>
            <a:endParaRPr lang="ru-RU" dirty="0"/>
          </a:p>
          <a:p>
            <a:r>
              <a:rPr lang="ru-RU" dirty="0" err="1"/>
              <a:t>Линтинг</a:t>
            </a:r>
            <a:r>
              <a:rPr lang="ru-RU" dirty="0"/>
              <a:t> совместного использования кода</a:t>
            </a:r>
          </a:p>
          <a:p>
            <a:r>
              <a:rPr lang="ru-RU" dirty="0"/>
              <a:t>Архитектура и хорошие практики</a:t>
            </a:r>
          </a:p>
          <a:p>
            <a:r>
              <a:rPr lang="ru-RU" dirty="0"/>
              <a:t>Кэширование</a:t>
            </a:r>
          </a:p>
          <a:p>
            <a:r>
              <a:rPr lang="ru-RU" dirty="0"/>
              <a:t>Генерация кода</a:t>
            </a:r>
            <a:endParaRPr lang="en-US" dirty="0"/>
          </a:p>
          <a:p>
            <a:r>
              <a:rPr lang="en-GB" dirty="0"/>
              <a:t>Single Version Policy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224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CD40-9DBA-407F-A596-6F6EE662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5200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Архитектурные рекомендации </a:t>
            </a:r>
            <a:r>
              <a:rPr lang="en-US" dirty="0"/>
              <a:t>NX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101B5-FDD5-C70E-8FB2-788D96006ECD}"/>
              </a:ext>
            </a:extLst>
          </p:cNvPr>
          <p:cNvSpPr txBox="1"/>
          <p:nvPr/>
        </p:nvSpPr>
        <p:spPr>
          <a:xfrm>
            <a:off x="441875" y="652007"/>
            <a:ext cx="11308249" cy="592534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Tx/>
              <a:buChar char="-"/>
              <a:defRPr sz="3200"/>
            </a:lvl1pPr>
          </a:lstStyle>
          <a:p>
            <a:pPr marL="0" indent="0">
              <a:buNone/>
            </a:pPr>
            <a:r>
              <a:rPr lang="ru-RU" dirty="0"/>
              <a:t>Вынесение в библиотеки всех частей которые теоретически могут быть лениво загружены. 80% кода в библиотеках</a:t>
            </a:r>
          </a:p>
          <a:p>
            <a:r>
              <a:rPr lang="en-GB" dirty="0"/>
              <a:t>Feature libraries</a:t>
            </a:r>
            <a:r>
              <a:rPr lang="ru-RU" dirty="0"/>
              <a:t> (</a:t>
            </a:r>
            <a:r>
              <a:rPr lang="en-GB" dirty="0"/>
              <a:t>smart components</a:t>
            </a:r>
            <a:r>
              <a:rPr lang="en-US" dirty="0"/>
              <a:t>, services</a:t>
            </a:r>
            <a:r>
              <a:rPr lang="ru-RU" dirty="0"/>
              <a:t>)</a:t>
            </a:r>
            <a:endParaRPr lang="en-US" dirty="0"/>
          </a:p>
          <a:p>
            <a:r>
              <a:rPr lang="en-GB" dirty="0"/>
              <a:t>UI libraries</a:t>
            </a:r>
            <a:r>
              <a:rPr lang="en-US" dirty="0"/>
              <a:t> (dumb components)</a:t>
            </a:r>
          </a:p>
          <a:p>
            <a:r>
              <a:rPr lang="en-GB" dirty="0"/>
              <a:t>Data-access libraries</a:t>
            </a:r>
            <a:r>
              <a:rPr lang="en-US" dirty="0"/>
              <a:t> – </a:t>
            </a:r>
            <a:r>
              <a:rPr lang="ru-RU" dirty="0"/>
              <a:t>загрузка данных и </a:t>
            </a:r>
            <a:r>
              <a:rPr lang="en-US" dirty="0"/>
              <a:t>store</a:t>
            </a:r>
          </a:p>
          <a:p>
            <a:r>
              <a:rPr lang="en-GB" dirty="0"/>
              <a:t>Utility libraries</a:t>
            </a:r>
            <a:r>
              <a:rPr lang="en-US" dirty="0"/>
              <a:t> – </a:t>
            </a:r>
            <a:r>
              <a:rPr lang="ru-RU" dirty="0"/>
              <a:t>примитивные функции, использующиеся разными частями приложения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Тегами задается тип и </a:t>
            </a:r>
            <a:r>
              <a:rPr lang="ru-RU" dirty="0" err="1"/>
              <a:t>скоуп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69070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CD40-9DBA-407F-A596-6F6EE662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5200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Архитектурные рекомендации </a:t>
            </a:r>
            <a:r>
              <a:rPr lang="en-US" dirty="0"/>
              <a:t>NX</a:t>
            </a:r>
            <a:endParaRPr lang="en-GB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9301C89-6F4D-D675-84AF-94B17E059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83" y="995023"/>
            <a:ext cx="6230219" cy="48679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A21DEB-DC4F-55F0-1926-009A9AF058C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8591"/>
          <a:stretch/>
        </p:blipFill>
        <p:spPr>
          <a:xfrm>
            <a:off x="6831436" y="995023"/>
            <a:ext cx="5153281" cy="55830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3005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CD40-9DBA-407F-A596-6F6EE662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5200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Кеширование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9EA1D-8D55-AB46-63A4-88A212C6DB3D}"/>
              </a:ext>
            </a:extLst>
          </p:cNvPr>
          <p:cNvSpPr txBox="1"/>
          <p:nvPr/>
        </p:nvSpPr>
        <p:spPr>
          <a:xfrm>
            <a:off x="441875" y="324776"/>
            <a:ext cx="11308249" cy="14933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Tx/>
              <a:buChar char="-"/>
              <a:defRPr sz="3200"/>
            </a:lvl1pPr>
          </a:lstStyle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                  Локальное                                                   Удаленное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3532F54-5C3A-3276-8CE9-5F80435B8D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07785" y="2257242"/>
            <a:ext cx="4415014" cy="4367494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F7AD2897-C57D-C6E1-CCAA-8EF113ED9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160" y="2009193"/>
            <a:ext cx="7375625" cy="461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21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CD40-9DBA-407F-A596-6F6EE662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2468" y="1"/>
            <a:ext cx="9369532" cy="65200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Запуск задач и генерация кода</a:t>
            </a:r>
            <a:endParaRPr lang="en-GB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6FEBF7-DFD7-F81C-9F7E-2247C601F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2822468" cy="68579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109164-7ABC-80EC-C5C4-827E376FDEAB}"/>
              </a:ext>
            </a:extLst>
          </p:cNvPr>
          <p:cNvSpPr txBox="1"/>
          <p:nvPr/>
        </p:nvSpPr>
        <p:spPr>
          <a:xfrm>
            <a:off x="2940424" y="622696"/>
            <a:ext cx="9251576" cy="297068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Tx/>
              <a:buChar char="-"/>
              <a:defRPr sz="3200"/>
            </a:lvl1pPr>
          </a:lstStyle>
          <a:p>
            <a:r>
              <a:rPr lang="ru-RU" dirty="0"/>
              <a:t>Генерация кода</a:t>
            </a:r>
          </a:p>
          <a:p>
            <a:r>
              <a:rPr lang="ru-RU" dirty="0"/>
              <a:t>Запуск одновременно нескольких проектов</a:t>
            </a:r>
          </a:p>
          <a:p>
            <a:r>
              <a:rPr lang="ru-RU" dirty="0"/>
              <a:t>Граф проекта</a:t>
            </a:r>
          </a:p>
          <a:p>
            <a:r>
              <a:rPr lang="ru-RU" dirty="0"/>
              <a:t>Запуск скриптов</a:t>
            </a:r>
          </a:p>
        </p:txBody>
      </p:sp>
    </p:spTree>
    <p:extLst>
      <p:ext uri="{BB962C8B-B14F-4D97-AF65-F5344CB8AC3E}">
        <p14:creationId xmlns:p14="http://schemas.microsoft.com/office/powerpoint/2010/main" val="4250651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6F27FEE-2767-4508-99CD-F8E2345563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7716" y="0"/>
            <a:ext cx="5304284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E266AD-6935-C0A4-1F90-0B7FEEC7E219}"/>
              </a:ext>
            </a:extLst>
          </p:cNvPr>
          <p:cNvSpPr txBox="1"/>
          <p:nvPr/>
        </p:nvSpPr>
        <p:spPr>
          <a:xfrm>
            <a:off x="104755" y="0"/>
            <a:ext cx="6887716" cy="666400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Tx/>
              <a:buChar char="-"/>
              <a:defRPr sz="3200"/>
            </a:lvl1pPr>
          </a:lstStyle>
          <a:p>
            <a:pPr marL="0" indent="0" algn="ctr">
              <a:buNone/>
            </a:pPr>
            <a:r>
              <a:rPr lang="en-US" dirty="0"/>
              <a:t>UI </a:t>
            </a:r>
            <a:r>
              <a:rPr lang="ru-RU" dirty="0"/>
              <a:t>генератор компонента</a:t>
            </a: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В консоли обновляется результат</a:t>
            </a:r>
            <a:endParaRPr lang="en-US" dirty="0"/>
          </a:p>
          <a:p>
            <a:pPr marL="0" indent="0" algn="ctr">
              <a:buNone/>
            </a:pPr>
            <a:r>
              <a:rPr lang="en-US" dirty="0"/>
              <a:t>(dry run)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998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>
            <a:extLst>
              <a:ext uri="{FF2B5EF4-FFF2-40B4-BE49-F238E27FC236}">
                <a16:creationId xmlns:a16="http://schemas.microsoft.com/office/drawing/2014/main" id="{A993675C-3464-D6A1-2245-E4B679F29E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5" r="22625"/>
          <a:stretch/>
        </p:blipFill>
        <p:spPr bwMode="auto">
          <a:xfrm>
            <a:off x="4939549" y="717322"/>
            <a:ext cx="5544947" cy="5855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34CD40-9DBA-407F-A596-6F6EE662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5200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Построение графа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7B15E7-A1F5-592E-7C00-BCA3DAAC33EB}"/>
              </a:ext>
            </a:extLst>
          </p:cNvPr>
          <p:cNvSpPr txBox="1"/>
          <p:nvPr/>
        </p:nvSpPr>
        <p:spPr>
          <a:xfrm>
            <a:off x="441875" y="1189889"/>
            <a:ext cx="11308249" cy="14933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457200" indent="-457200">
              <a:lnSpc>
                <a:spcPct val="150000"/>
              </a:lnSpc>
              <a:buFontTx/>
              <a:buChar char="-"/>
              <a:defRPr sz="3200"/>
            </a:lvl1pPr>
          </a:lstStyle>
          <a:p>
            <a:r>
              <a:rPr lang="ru-RU" dirty="0"/>
              <a:t>Граф проекта</a:t>
            </a:r>
          </a:p>
          <a:p>
            <a:r>
              <a:rPr lang="ru-RU" dirty="0"/>
              <a:t>Граф изменений</a:t>
            </a:r>
          </a:p>
        </p:txBody>
      </p:sp>
    </p:spTree>
    <p:extLst>
      <p:ext uri="{BB962C8B-B14F-4D97-AF65-F5344CB8AC3E}">
        <p14:creationId xmlns:p14="http://schemas.microsoft.com/office/powerpoint/2010/main" val="1792148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4CD40-9DBA-407F-A596-6F6EE6623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52006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/>
              <a:t>Минусы </a:t>
            </a:r>
            <a:r>
              <a:rPr lang="ru-RU" dirty="0" err="1"/>
              <a:t>монорепозиториев</a:t>
            </a:r>
            <a:endParaRPr lang="en-GB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A4D7CE-FCD8-422E-86E8-F02F9C4FDC01}"/>
              </a:ext>
            </a:extLst>
          </p:cNvPr>
          <p:cNvSpPr txBox="1"/>
          <p:nvPr/>
        </p:nvSpPr>
        <p:spPr>
          <a:xfrm>
            <a:off x="130590" y="593641"/>
            <a:ext cx="11308249" cy="5186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u-RU" sz="3200" dirty="0"/>
              <a:t>Неочевидная настройка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u-RU" sz="3200" dirty="0"/>
              <a:t>Выше порог вхождения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u-RU" sz="3200" dirty="0"/>
              <a:t>Сложность отдельных релизов проектов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u-RU" sz="3200" dirty="0"/>
              <a:t>Риск кражи кода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u-RU" sz="3200" dirty="0"/>
              <a:t>Требуется настройка прав на проекты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ru-RU" sz="3200" dirty="0"/>
              <a:t>Медленная работа </a:t>
            </a:r>
            <a:r>
              <a:rPr lang="en-US" sz="3200" dirty="0"/>
              <a:t>IDE</a:t>
            </a: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GB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0236CC5-F691-F9E0-3C05-C9F67DDF3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0530" y="746199"/>
            <a:ext cx="3810532" cy="5715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0D408C-E689-DCF9-D0FB-FC18B26DF40F}"/>
              </a:ext>
            </a:extLst>
          </p:cNvPr>
          <p:cNvSpPr txBox="1"/>
          <p:nvPr/>
        </p:nvSpPr>
        <p:spPr>
          <a:xfrm>
            <a:off x="7884268" y="853655"/>
            <a:ext cx="425793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</a:pPr>
            <a:r>
              <a:rPr lang="ru-RU" sz="2800" b="1" dirty="0">
                <a:solidFill>
                  <a:srgbClr val="364028"/>
                </a:solidFill>
                <a:latin typeface="Franklin Gothic Demi" panose="020B0703020102020204" pitchFamily="34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Проект без</a:t>
            </a:r>
          </a:p>
          <a:p>
            <a:pPr algn="ctr">
              <a:lnSpc>
                <a:spcPts val="3000"/>
              </a:lnSpc>
            </a:pPr>
            <a:r>
              <a:rPr lang="ru-RU" sz="2800" b="1" dirty="0" err="1">
                <a:solidFill>
                  <a:srgbClr val="364028"/>
                </a:solidFill>
                <a:latin typeface="Franklin Gothic Demi" panose="020B0703020102020204" pitchFamily="34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монорепозитория</a:t>
            </a:r>
            <a:r>
              <a:rPr lang="ru-RU" sz="2800" b="1" dirty="0">
                <a:solidFill>
                  <a:srgbClr val="364028"/>
                </a:solidFill>
                <a:latin typeface="Franklin Gothic Demi" panose="020B0703020102020204" pitchFamily="34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 - </a:t>
            </a:r>
          </a:p>
          <a:p>
            <a:pPr algn="ctr">
              <a:lnSpc>
                <a:spcPts val="3000"/>
              </a:lnSpc>
            </a:pPr>
            <a:r>
              <a:rPr lang="ru-RU" sz="2800" b="1" dirty="0">
                <a:solidFill>
                  <a:srgbClr val="364028"/>
                </a:solidFill>
                <a:latin typeface="Franklin Gothic Demi" panose="020B0703020102020204" pitchFamily="34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как рыба</a:t>
            </a:r>
          </a:p>
          <a:p>
            <a:pPr algn="ctr">
              <a:lnSpc>
                <a:spcPts val="3000"/>
              </a:lnSpc>
            </a:pPr>
            <a:r>
              <a:rPr lang="ru-RU" sz="2800" b="1" dirty="0">
                <a:solidFill>
                  <a:srgbClr val="364028"/>
                </a:solidFill>
                <a:latin typeface="Franklin Gothic Demi" panose="020B0703020102020204" pitchFamily="34" charset="0"/>
                <a:ea typeface="Cascadia Mono ExtraLight" panose="020B0609020000020004" pitchFamily="49" charset="0"/>
                <a:cs typeface="Cascadia Mono ExtraLight" panose="020B0609020000020004" pitchFamily="49" charset="0"/>
              </a:rPr>
              <a:t>без велосипеда</a:t>
            </a:r>
            <a:endParaRPr lang="en-GB" sz="2800" b="1" dirty="0">
              <a:solidFill>
                <a:srgbClr val="364028"/>
              </a:solidFill>
              <a:latin typeface="Franklin Gothic Demi" panose="020B0703020102020204" pitchFamily="34" charset="0"/>
              <a:ea typeface="Cascadia Mono ExtraLight" panose="020B0609020000020004" pitchFamily="49" charset="0"/>
              <a:cs typeface="Cascadia Mono Extra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322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A81D-9B22-48A4-9B92-5AF9CA929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Материалы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10D19-E44D-40AA-AAF7-22BE18231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2560"/>
            <a:ext cx="10515600" cy="5060315"/>
          </a:xfrm>
        </p:spPr>
        <p:txBody>
          <a:bodyPr>
            <a:normAutofit/>
          </a:bodyPr>
          <a:lstStyle/>
          <a:p>
            <a:r>
              <a:rPr lang="en-GB" sz="2000" dirty="0">
                <a:hlinkClick r:id="rId2"/>
              </a:rPr>
              <a:t>https://nx.dev/getting-started/intro</a:t>
            </a:r>
            <a:endParaRPr lang="ru-RU" sz="2000" dirty="0"/>
          </a:p>
          <a:p>
            <a:r>
              <a:rPr lang="en-GB" sz="2000" dirty="0">
                <a:hlinkClick r:id="rId3"/>
              </a:rPr>
              <a:t>https://www.youtube.com/watch?v=MbtWty7DosE</a:t>
            </a:r>
            <a:endParaRPr lang="ru-RU" sz="2000" dirty="0"/>
          </a:p>
          <a:p>
            <a:r>
              <a:rPr lang="en-GB" sz="2000" dirty="0">
                <a:hlinkClick r:id="rId4"/>
              </a:rPr>
              <a:t>https://www.youtube.com/watch?v=1eHlaVoeDfU</a:t>
            </a:r>
            <a:endParaRPr lang="ru-RU" sz="2000" dirty="0"/>
          </a:p>
          <a:p>
            <a:r>
              <a:rPr lang="en-GB" sz="2000" dirty="0">
                <a:hlinkClick r:id="rId5"/>
              </a:rPr>
              <a:t>https://medium.com/ekino-france/monorepo-insights-nx-pnpm-and-turborepo-2-4-e6d5837570ad</a:t>
            </a:r>
            <a:endParaRPr lang="ru-RU" sz="2000" dirty="0"/>
          </a:p>
          <a:p>
            <a:endParaRPr lang="ru-RU" sz="2000" dirty="0"/>
          </a:p>
          <a:p>
            <a:endParaRPr lang="en-GB" sz="2000" dirty="0"/>
          </a:p>
          <a:p>
            <a:endParaRPr lang="ru-RU" sz="2000" dirty="0"/>
          </a:p>
          <a:p>
            <a:endParaRPr lang="ru-RU" sz="2000" dirty="0"/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64738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18767</TotalTime>
  <Words>368</Words>
  <Application>Microsoft Office PowerPoint</Application>
  <PresentationFormat>Широкоэкранный</PresentationFormat>
  <Paragraphs>78</Paragraphs>
  <Slides>11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Franklin Gothic Demi</vt:lpstr>
      <vt:lpstr>HeliosExtC</vt:lpstr>
      <vt:lpstr>Office Theme</vt:lpstr>
      <vt:lpstr>Что делать если у Вас NX</vt:lpstr>
      <vt:lpstr>Монорепозиторий</vt:lpstr>
      <vt:lpstr>NX</vt:lpstr>
      <vt:lpstr>Архитектурные рекомендации NX</vt:lpstr>
      <vt:lpstr>Архитектурные рекомендации NX</vt:lpstr>
      <vt:lpstr>Кеширование</vt:lpstr>
      <vt:lpstr>Запуск задач и генерация кода</vt:lpstr>
      <vt:lpstr>Презентация PowerPoint</vt:lpstr>
      <vt:lpstr>Построение графа</vt:lpstr>
      <vt:lpstr>Минусы монорепозиториев</vt:lpstr>
      <vt:lpstr>Материалы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Алгоритмические задачи</dc:title>
  <dc:creator>User</dc:creator>
  <cp:lastModifiedBy>User</cp:lastModifiedBy>
  <cp:revision>33</cp:revision>
  <dcterms:created xsi:type="dcterms:W3CDTF">2024-03-24T11:54:03Z</dcterms:created>
  <dcterms:modified xsi:type="dcterms:W3CDTF">2024-09-16T17:41:17Z</dcterms:modified>
</cp:coreProperties>
</file>